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82880"/>
            <a:ext cx="3657600" cy="292608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640080"/>
            <a:ext cx="2194560" cy="1828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65760" y="5394960"/>
            <a:ext cx="1645920" cy="1371600"/>
          </a:xfrm>
          <a:prstGeom prst="ellipse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ositives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512064"/>
            <a:ext cx="1280160" cy="3717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" y="1444752"/>
            <a:ext cx="6217920" cy="896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100" b="1" i="0">
                <a:solidFill>
                  <a:srgbClr val="121417"/>
                </a:solidFill>
                <a:latin typeface="Avenir Next"/>
              </a:rPr>
              <a:t>Positives Launch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487168"/>
            <a:ext cx="630936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800" b="0" i="0">
                <a:solidFill>
                  <a:srgbClr val="68707A"/>
                </a:solidFill>
                <a:latin typeface="Avenir Next"/>
              </a:rPr>
              <a:t>What we've built, what's changing, and what we need to decide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4169663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5" y="4480560"/>
            <a:ext cx="47548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0" i="0">
                <a:solidFill>
                  <a:srgbClr val="121417"/>
                </a:solidFill>
                <a:latin typeface="Avenir Next"/>
              </a:rPr>
              <a:t>A guided conversation deck for moving from the legacy stack to an owned Positives platform.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961888"/>
            <a:ext cx="3931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68707A"/>
                </a:solidFill>
                <a:latin typeface="Avenir Next"/>
              </a:rPr>
              <a:t>Dr. Paul Jenkins + Ryan Bradshaw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8208" y="6327648"/>
            <a:ext cx="25603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AA0A8"/>
                </a:solidFill>
                <a:latin typeface="Avenir Nex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sitives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84048"/>
            <a:ext cx="1078992" cy="31336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235440" y="-182880"/>
            <a:ext cx="2468880" cy="1828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37160"/>
            <a:ext cx="2926080" cy="21488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69494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800" b="1" i="0">
                <a:solidFill>
                  <a:srgbClr val="121417"/>
                </a:solidFill>
                <a:latin typeface="Avenir Next"/>
              </a:rPr>
              <a:t>We've built a real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645920"/>
            <a:ext cx="10515600" cy="18288"/>
          </a:xfrm>
          <a:prstGeom prst="rect">
            <a:avLst/>
          </a:prstGeom>
          <a:solidFill>
            <a:srgbClr val="DDD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121417"/>
                </a:solidFill>
                <a:latin typeface="Avenir Next"/>
              </a:rPr>
              <a:t>Positives is no longer just an idea. The core membership, billing, and admin foundation already exist.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273552"/>
            <a:ext cx="4434840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21417"/>
                </a:solidFill>
                <a:latin typeface="Avenir Next"/>
              </a:defRPr>
            </a:pPr>
            <a:r>
              <a:t>• core membership experience exists</a:t>
            </a:r>
          </a:p>
          <a:p>
            <a:pPr>
              <a:spcAft>
                <a:spcPts val="400"/>
              </a:spcAft>
              <a:defRPr sz="1500">
                <a:solidFill>
                  <a:srgbClr val="121417"/>
                </a:solidFill>
                <a:latin typeface="Avenir Next"/>
              </a:defRPr>
            </a:pPr>
            <a:r>
              <a:t>• billing foundation exists</a:t>
            </a:r>
          </a:p>
          <a:p>
            <a:pPr>
              <a:spcAft>
                <a:spcPts val="400"/>
              </a:spcAft>
              <a:defRPr sz="1500">
                <a:solidFill>
                  <a:srgbClr val="121417"/>
                </a:solidFill>
                <a:latin typeface="Avenir Next"/>
              </a:defRPr>
            </a:pPr>
            <a:r>
              <a:t>• admin system exists</a:t>
            </a:r>
          </a:p>
          <a:p>
            <a:pPr>
              <a:spcAft>
                <a:spcPts val="400"/>
              </a:spcAft>
              <a:defRPr sz="1500">
                <a:solidFill>
                  <a:srgbClr val="121417"/>
                </a:solidFill>
                <a:latin typeface="Avenir Next"/>
              </a:defRPr>
            </a:pPr>
            <a:r>
              <a:t>• launch decisions are now mostly business and migration decisions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865376"/>
            <a:ext cx="512064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17336" y="1984248"/>
            <a:ext cx="4864607" cy="64008"/>
          </a:xfrm>
          <a:prstGeom prst="roundRect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2048256"/>
            <a:ext cx="4791455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121417"/>
                </a:solidFill>
                <a:latin typeface="Avenir Next"/>
              </a:rPr>
              <a:t>Live production proof</a:t>
            </a:r>
          </a:p>
        </p:txBody>
      </p:sp>
      <p:pic>
        <p:nvPicPr>
          <p:cNvPr id="12" name="Picture 11" descr="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12848"/>
            <a:ext cx="4663440" cy="33162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5925312"/>
            <a:ext cx="44805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68707A"/>
                </a:solidFill>
                <a:latin typeface="Avenir Next"/>
              </a:rPr>
              <a:t>Live now at `positives.life`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6382512"/>
            <a:ext cx="29260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AA0A8"/>
                </a:solidFill>
                <a:latin typeface="Avenir Next"/>
              </a:rPr>
              <a:t>Positives • Monday strategy discussion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382512"/>
            <a:ext cx="25603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AA0A8"/>
                </a:solidFill>
                <a:latin typeface="Avenir Nex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sitives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84048"/>
            <a:ext cx="1078992" cy="31336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235440" y="-182880"/>
            <a:ext cx="2468880" cy="1828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37160"/>
            <a:ext cx="2926080" cy="21488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69494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800" b="1" i="0">
                <a:solidFill>
                  <a:srgbClr val="121417"/>
                </a:solidFill>
                <a:latin typeface="Avenir Next"/>
              </a:rPr>
              <a:t>What's already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645920"/>
            <a:ext cx="10515600" cy="18288"/>
          </a:xfrm>
          <a:prstGeom prst="rect">
            <a:avLst/>
          </a:prstGeom>
          <a:solidFill>
            <a:srgbClr val="DDD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993392"/>
            <a:ext cx="27432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9264" y="2112264"/>
            <a:ext cx="2487168" cy="64008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14016"/>
            <a:ext cx="2414016" cy="896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20" b="1" i="0">
                <a:solidFill>
                  <a:srgbClr val="121417"/>
                </a:solidFill>
                <a:latin typeface="Avenir Next"/>
              </a:rPr>
              <a:t>Stripe checkout and billing portal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13632" y="1993392"/>
            <a:ext cx="27432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41648" y="2112264"/>
            <a:ext cx="2487168" cy="64008"/>
          </a:xfrm>
          <a:prstGeom prst="roundRect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78224" y="2414016"/>
            <a:ext cx="2414016" cy="896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20" b="1" i="0">
                <a:solidFill>
                  <a:srgbClr val="121417"/>
                </a:solidFill>
                <a:latin typeface="Avenir Next"/>
              </a:rPr>
              <a:t>Daily practice member experience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86016" y="1993392"/>
            <a:ext cx="27432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14031" y="2112264"/>
            <a:ext cx="2487168" cy="640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0607" y="2414016"/>
            <a:ext cx="2414016" cy="896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20" b="1" i="0">
                <a:solidFill>
                  <a:srgbClr val="121417"/>
                </a:solidFill>
                <a:latin typeface="Avenir Next"/>
              </a:rPr>
              <a:t>Library, notes, and account area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703320"/>
            <a:ext cx="27432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9264" y="3822191"/>
            <a:ext cx="2487168" cy="64008"/>
          </a:xfrm>
          <a:prstGeom prst="roundRect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23944"/>
            <a:ext cx="2414016" cy="896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20" b="1" i="0">
                <a:solidFill>
                  <a:srgbClr val="121417"/>
                </a:solidFill>
                <a:latin typeface="Avenir Next"/>
              </a:rPr>
              <a:t>Events and coaching surfaces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13632" y="3703320"/>
            <a:ext cx="27432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041648" y="3822191"/>
            <a:ext cx="2487168" cy="64008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78224" y="4123944"/>
            <a:ext cx="2414016" cy="896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20" b="1" i="0">
                <a:solidFill>
                  <a:srgbClr val="121417"/>
                </a:solidFill>
                <a:latin typeface="Avenir Next"/>
              </a:rPr>
              <a:t>Admin content management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6016" y="3703320"/>
            <a:ext cx="27432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14031" y="3822191"/>
            <a:ext cx="2487168" cy="640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0607" y="4123944"/>
            <a:ext cx="2414016" cy="896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20" b="1" i="0">
                <a:solidFill>
                  <a:srgbClr val="121417"/>
                </a:solidFill>
                <a:latin typeface="Avenir Next"/>
              </a:rPr>
              <a:t>Affiliate / referral foundation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77440" y="5413248"/>
            <a:ext cx="731520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505456" y="5532120"/>
            <a:ext cx="7059168" cy="64008"/>
          </a:xfrm>
          <a:prstGeom prst="roundRect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42032" y="5833872"/>
            <a:ext cx="6986016" cy="3657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20" b="0" i="0">
                <a:solidFill>
                  <a:srgbClr val="121417"/>
                </a:solidFill>
                <a:latin typeface="Avenir Next"/>
              </a:rPr>
              <a:t>Public funnel and marketing pages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6382512"/>
            <a:ext cx="29260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AA0A8"/>
                </a:solidFill>
                <a:latin typeface="Avenir Next"/>
              </a:rPr>
              <a:t>Positives • Monday strategy discussion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382512"/>
            <a:ext cx="25603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AA0A8"/>
                </a:solidFill>
                <a:latin typeface="Avenir Nex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sitives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84048"/>
            <a:ext cx="1078992" cy="31336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235440" y="-182880"/>
            <a:ext cx="2468880" cy="1828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37160"/>
            <a:ext cx="2926080" cy="21488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69494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800" b="1" i="0">
                <a:solidFill>
                  <a:srgbClr val="121417"/>
                </a:solidFill>
                <a:latin typeface="Avenir Next"/>
              </a:rPr>
              <a:t>The new member experience is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645920"/>
            <a:ext cx="10515600" cy="18288"/>
          </a:xfrm>
          <a:prstGeom prst="rect">
            <a:avLst/>
          </a:prstGeom>
          <a:solidFill>
            <a:srgbClr val="DDD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847088"/>
            <a:ext cx="5349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965960"/>
            <a:ext cx="5093207" cy="64008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29968"/>
            <a:ext cx="5020055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121417"/>
                </a:solidFill>
                <a:latin typeface="Avenir Next"/>
              </a:rPr>
              <a:t>Homepage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71616" y="1847088"/>
            <a:ext cx="5349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9631" y="1965960"/>
            <a:ext cx="5093207" cy="640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7" y="2029968"/>
            <a:ext cx="5020055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121417"/>
                </a:solidFill>
                <a:latin typeface="Avenir Next"/>
              </a:rPr>
              <a:t>Join page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4096512"/>
            <a:ext cx="534924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" y="4215384"/>
            <a:ext cx="5093207" cy="64008"/>
          </a:xfrm>
          <a:prstGeom prst="roundRect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279392"/>
            <a:ext cx="5020055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121417"/>
                </a:solidFill>
                <a:latin typeface="Avenir Next"/>
              </a:rPr>
              <a:t>Watch page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71616" y="4096512"/>
            <a:ext cx="534924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9631" y="4215384"/>
            <a:ext cx="5093207" cy="640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7" y="4279392"/>
            <a:ext cx="5020055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121417"/>
                </a:solidFill>
                <a:latin typeface="Avenir Next"/>
              </a:rPr>
              <a:t>Login</a:t>
            </a:r>
          </a:p>
        </p:txBody>
      </p:sp>
      <p:pic>
        <p:nvPicPr>
          <p:cNvPr id="19" name="Picture 18" descr="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12848"/>
            <a:ext cx="5029200" cy="3576320"/>
          </a:xfrm>
          <a:prstGeom prst="rect">
            <a:avLst/>
          </a:prstGeom>
        </p:spPr>
      </p:pic>
      <p:pic>
        <p:nvPicPr>
          <p:cNvPr id="20" name="Picture 19" descr="jo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212848"/>
            <a:ext cx="5029200" cy="3576320"/>
          </a:xfrm>
          <a:prstGeom prst="rect">
            <a:avLst/>
          </a:prstGeom>
        </p:spPr>
      </p:pic>
      <p:pic>
        <p:nvPicPr>
          <p:cNvPr id="21" name="Picture 20" descr="wat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62272"/>
            <a:ext cx="5029200" cy="3576320"/>
          </a:xfrm>
          <a:prstGeom prst="rect">
            <a:avLst/>
          </a:prstGeom>
        </p:spPr>
      </p:pic>
      <p:pic>
        <p:nvPicPr>
          <p:cNvPr id="22" name="Picture 21" descr="log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4462272"/>
            <a:ext cx="5029200" cy="3576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68096" y="6382512"/>
            <a:ext cx="29260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AA0A8"/>
                </a:solidFill>
                <a:latin typeface="Avenir Next"/>
              </a:rPr>
              <a:t>Positives • Monday strategy discussion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382512"/>
            <a:ext cx="25603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AA0A8"/>
                </a:solidFill>
                <a:latin typeface="Avenir Nex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sitives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84048"/>
            <a:ext cx="1078992" cy="31336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235440" y="-182880"/>
            <a:ext cx="2468880" cy="1828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37160"/>
            <a:ext cx="2926080" cy="21488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69494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800" b="1" i="0">
                <a:solidFill>
                  <a:srgbClr val="121417"/>
                </a:solidFill>
                <a:latin typeface="Avenir Next"/>
              </a:rPr>
              <a:t>This changes what's possible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645920"/>
            <a:ext cx="10515600" cy="18288"/>
          </a:xfrm>
          <a:prstGeom prst="rect">
            <a:avLst/>
          </a:prstGeom>
          <a:solidFill>
            <a:srgbClr val="DDD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48256"/>
            <a:ext cx="9692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000" b="1" i="0">
                <a:solidFill>
                  <a:srgbClr val="121417"/>
                </a:solidFill>
                <a:latin typeface="Avenir Next"/>
              </a:rPr>
              <a:t>The future no longer has to be defined by the old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794760"/>
            <a:ext cx="32461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" y="3913632"/>
            <a:ext cx="2990087" cy="64008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3794760"/>
            <a:ext cx="32461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08576" y="3913632"/>
            <a:ext cx="2990087" cy="640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19872" y="3794760"/>
            <a:ext cx="3145536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47888" y="3913632"/>
            <a:ext cx="2889504" cy="64008"/>
          </a:xfrm>
          <a:prstGeom prst="roundRect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4151376"/>
            <a:ext cx="274320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0">
                <a:solidFill>
                  <a:srgbClr val="121417"/>
                </a:solidFill>
                <a:latin typeface="Avenir Next"/>
              </a:rPr>
              <a:t>New members can join through the new platform.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4151376"/>
            <a:ext cx="274320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0">
                <a:solidFill>
                  <a:srgbClr val="121417"/>
                </a:solidFill>
                <a:latin typeface="Avenir Next"/>
              </a:rPr>
              <a:t>Billing can move to Stripe over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4151376"/>
            <a:ext cx="265176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0">
                <a:solidFill>
                  <a:srgbClr val="121417"/>
                </a:solidFill>
                <a:latin typeface="Avenir Next"/>
              </a:rPr>
              <a:t>The team can operate content directly.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715000"/>
            <a:ext cx="5943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0">
                <a:solidFill>
                  <a:srgbClr val="68707A"/>
                </a:solidFill>
                <a:latin typeface="Avenir Next"/>
              </a:rPr>
              <a:t>The launch conversation can stay focused on transition and decisions, not whether the product exists.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6382512"/>
            <a:ext cx="29260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AA0A8"/>
                </a:solidFill>
                <a:latin typeface="Avenir Next"/>
              </a:rPr>
              <a:t>Positives • Monday strategy discussion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82512"/>
            <a:ext cx="25603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AA0A8"/>
                </a:solidFill>
                <a:latin typeface="Avenir Nex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sitives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84048"/>
            <a:ext cx="1078992" cy="31336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235440" y="-182880"/>
            <a:ext cx="2468880" cy="1828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37160"/>
            <a:ext cx="2926080" cy="21488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69494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800" b="1" i="0">
                <a:solidFill>
                  <a:srgbClr val="121417"/>
                </a:solidFill>
                <a:latin typeface="Avenir Next"/>
              </a:rPr>
              <a:t>From legacy stack to owned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645920"/>
            <a:ext cx="10515600" cy="18288"/>
          </a:xfrm>
          <a:prstGeom prst="rect">
            <a:avLst/>
          </a:prstGeom>
          <a:solidFill>
            <a:srgbClr val="DDD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65376"/>
            <a:ext cx="4370832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9264" y="1984248"/>
            <a:ext cx="4114800" cy="64008"/>
          </a:xfrm>
          <a:prstGeom prst="roundRect">
            <a:avLst/>
          </a:prstGeom>
          <a:solidFill>
            <a:srgbClr val="EFE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48256"/>
            <a:ext cx="404164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121417"/>
                </a:solidFill>
                <a:latin typeface="Avenir Next"/>
              </a:rPr>
              <a:t>Current world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94576" y="1865376"/>
            <a:ext cx="4370832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22592" y="1984248"/>
            <a:ext cx="4114800" cy="64008"/>
          </a:xfrm>
          <a:prstGeom prst="roundRect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9168" y="2048256"/>
            <a:ext cx="404164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121417"/>
                </a:solidFill>
                <a:latin typeface="Avenir Next"/>
              </a:rPr>
              <a:t>Future world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414016"/>
            <a:ext cx="3566160" cy="1920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21417"/>
                </a:solidFill>
                <a:latin typeface="Avenir Next"/>
              </a:defRPr>
            </a:pPr>
            <a:r>
              <a:t>• Infusionsoft / Keap</a:t>
            </a:r>
          </a:p>
          <a:p>
            <a:pPr>
              <a:spcAft>
                <a:spcPts val="400"/>
              </a:spcAft>
              <a:defRPr sz="1500">
                <a:solidFill>
                  <a:srgbClr val="121417"/>
                </a:solidFill>
                <a:latin typeface="Avenir Next"/>
              </a:defRPr>
            </a:pPr>
            <a:r>
              <a:t>• Authorize.net</a:t>
            </a:r>
          </a:p>
          <a:p>
            <a:pPr>
              <a:spcAft>
                <a:spcPts val="400"/>
              </a:spcAft>
              <a:defRPr sz="1500">
                <a:solidFill>
                  <a:srgbClr val="121417"/>
                </a:solidFill>
                <a:latin typeface="Avenir Next"/>
              </a:defRPr>
            </a:pPr>
            <a:r>
              <a:t>• ClickFunnels</a:t>
            </a:r>
          </a:p>
          <a:p>
            <a:pPr>
              <a:spcAft>
                <a:spcPts val="400"/>
              </a:spcAft>
              <a:defRPr sz="1500">
                <a:solidFill>
                  <a:srgbClr val="121417"/>
                </a:solidFill>
                <a:latin typeface="Avenir Next"/>
              </a:defRPr>
            </a:pPr>
            <a:r>
              <a:t>• Liquid Web</a:t>
            </a:r>
          </a:p>
          <a:p>
            <a:pPr>
              <a:spcAft>
                <a:spcPts val="400"/>
              </a:spcAft>
              <a:defRPr sz="1500">
                <a:solidFill>
                  <a:srgbClr val="121417"/>
                </a:solidFill>
                <a:latin typeface="Avenir Next"/>
              </a:defRPr>
            </a:pPr>
            <a:r>
              <a:t>• WordPress + plugin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414016"/>
            <a:ext cx="3611880" cy="2578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21417"/>
                </a:solidFill>
                <a:latin typeface="Avenir Next"/>
              </a:defRPr>
            </a:pPr>
            <a:r>
              <a:t>• Stripe</a:t>
            </a:r>
          </a:p>
          <a:p>
            <a:pPr>
              <a:spcAft>
                <a:spcPts val="400"/>
              </a:spcAft>
              <a:defRPr sz="1500">
                <a:solidFill>
                  <a:srgbClr val="121417"/>
                </a:solidFill>
                <a:latin typeface="Avenir Next"/>
              </a:defRPr>
            </a:pPr>
            <a:r>
              <a:t>• ActiveCampaign Pro</a:t>
            </a:r>
          </a:p>
          <a:p>
            <a:pPr>
              <a:spcAft>
                <a:spcPts val="400"/>
              </a:spcAft>
              <a:defRPr sz="1500">
                <a:solidFill>
                  <a:srgbClr val="121417"/>
                </a:solidFill>
                <a:latin typeface="Avenir Next"/>
              </a:defRPr>
            </a:pPr>
            <a:r>
              <a:t>• Postmark</a:t>
            </a:r>
          </a:p>
          <a:p>
            <a:pPr>
              <a:spcAft>
                <a:spcPts val="400"/>
              </a:spcAft>
              <a:defRPr sz="1500">
                <a:solidFill>
                  <a:srgbClr val="121417"/>
                </a:solidFill>
                <a:latin typeface="Avenir Next"/>
              </a:defRPr>
            </a:pPr>
            <a:r>
              <a:t>• Vercel</a:t>
            </a:r>
          </a:p>
          <a:p>
            <a:pPr>
              <a:spcAft>
                <a:spcPts val="400"/>
              </a:spcAft>
              <a:defRPr sz="1500">
                <a:solidFill>
                  <a:srgbClr val="121417"/>
                </a:solidFill>
                <a:latin typeface="Avenir Next"/>
              </a:defRPr>
            </a:pPr>
            <a:r>
              <a:t>• Supabase</a:t>
            </a:r>
          </a:p>
          <a:p>
            <a:pPr>
              <a:spcAft>
                <a:spcPts val="400"/>
              </a:spcAft>
              <a:defRPr sz="1500">
                <a:solidFill>
                  <a:srgbClr val="121417"/>
                </a:solidFill>
                <a:latin typeface="Avenir Next"/>
              </a:defRPr>
            </a:pPr>
            <a:r>
              <a:t>• FirstPromoter</a:t>
            </a:r>
          </a:p>
          <a:p>
            <a:pPr>
              <a:spcAft>
                <a:spcPts val="400"/>
              </a:spcAft>
              <a:defRPr sz="1500">
                <a:solidFill>
                  <a:srgbClr val="121417"/>
                </a:solidFill>
                <a:latin typeface="Avenir Next"/>
              </a:defRPr>
            </a:pPr>
            <a:r>
              <a:t>• Vimeo</a:t>
            </a:r>
          </a:p>
        </p:txBody>
      </p:sp>
      <p:sp>
        <p:nvSpPr>
          <p:cNvPr id="15" name="Chevron 14"/>
          <p:cNvSpPr/>
          <p:nvPr/>
        </p:nvSpPr>
        <p:spPr>
          <a:xfrm>
            <a:off x="5468112" y="3703320"/>
            <a:ext cx="1133856" cy="530352"/>
          </a:xfrm>
          <a:prstGeom prst="chevron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4688" y="3200400"/>
            <a:ext cx="1097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4E6A59"/>
                </a:solidFill>
                <a:latin typeface="Avenir Next"/>
              </a:rPr>
              <a:t>owned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382512"/>
            <a:ext cx="29260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AA0A8"/>
                </a:solidFill>
                <a:latin typeface="Avenir Next"/>
              </a:rPr>
              <a:t>Positives • Monday strategy discussion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82512"/>
            <a:ext cx="25603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AA0A8"/>
                </a:solidFill>
                <a:latin typeface="Avenir Nex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sitives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84048"/>
            <a:ext cx="1078992" cy="31336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235440" y="-182880"/>
            <a:ext cx="2468880" cy="1828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37160"/>
            <a:ext cx="2926080" cy="21488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69494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800" b="1" i="0">
                <a:solidFill>
                  <a:srgbClr val="121417"/>
                </a:solidFill>
                <a:latin typeface="Avenir Next"/>
              </a:rPr>
              <a:t>What we need to decide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645920"/>
            <a:ext cx="10515600" cy="18288"/>
          </a:xfrm>
          <a:prstGeom prst="rect">
            <a:avLst/>
          </a:prstGeom>
          <a:solidFill>
            <a:srgbClr val="DDD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70432" y="1901952"/>
            <a:ext cx="985723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98448" y="2020824"/>
            <a:ext cx="9601200" cy="64008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1975104"/>
            <a:ext cx="438912" cy="438912"/>
          </a:xfrm>
          <a:prstGeom prst="ellipse">
            <a:avLst/>
          </a:prstGeom>
          <a:solidFill>
            <a:srgbClr val="4E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025395"/>
            <a:ext cx="438912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066544"/>
            <a:ext cx="90525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50" b="0" i="0">
                <a:solidFill>
                  <a:srgbClr val="121417"/>
                </a:solidFill>
                <a:latin typeface="Avenir Next"/>
              </a:rPr>
              <a:t>what each membership tier should promise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70432" y="2743200"/>
            <a:ext cx="985723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98448" y="2862072"/>
            <a:ext cx="9601200" cy="640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2816352"/>
            <a:ext cx="438912" cy="438912"/>
          </a:xfrm>
          <a:prstGeom prst="ellipse">
            <a:avLst/>
          </a:prstGeom>
          <a:solidFill>
            <a:srgbClr val="4E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866644"/>
            <a:ext cx="438912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2907792"/>
            <a:ext cx="90525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50" b="0" i="0">
                <a:solidFill>
                  <a:srgbClr val="121417"/>
                </a:solidFill>
                <a:latin typeface="Avenir Next"/>
              </a:rPr>
              <a:t>whether Stripe is truly ready for live money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70432" y="3584448"/>
            <a:ext cx="985723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298448" y="3703320"/>
            <a:ext cx="9601200" cy="64008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" y="3657600"/>
            <a:ext cx="438912" cy="438912"/>
          </a:xfrm>
          <a:prstGeom prst="ellipse">
            <a:avLst/>
          </a:prstGeom>
          <a:solidFill>
            <a:srgbClr val="4E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707891"/>
            <a:ext cx="438912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749039"/>
            <a:ext cx="90525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50" b="0" i="0">
                <a:solidFill>
                  <a:srgbClr val="121417"/>
                </a:solidFill>
                <a:latin typeface="Avenir Next"/>
              </a:rPr>
              <a:t>how we move existing members to Stripe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70432" y="4425696"/>
            <a:ext cx="985723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98448" y="4544568"/>
            <a:ext cx="9601200" cy="640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8" y="4498848"/>
            <a:ext cx="438912" cy="438912"/>
          </a:xfrm>
          <a:prstGeom prst="ellipse">
            <a:avLst/>
          </a:prstGeom>
          <a:solidFill>
            <a:srgbClr val="4E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549140"/>
            <a:ext cx="438912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4590288"/>
            <a:ext cx="90525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50" b="0" i="0">
                <a:solidFill>
                  <a:srgbClr val="121417"/>
                </a:solidFill>
                <a:latin typeface="Avenir Next"/>
              </a:rPr>
              <a:t>whether we approve the email-stack direction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70432" y="5266944"/>
            <a:ext cx="985723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298448" y="5385816"/>
            <a:ext cx="9601200" cy="64008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1248" y="5340096"/>
            <a:ext cx="438912" cy="438912"/>
          </a:xfrm>
          <a:prstGeom prst="ellipse">
            <a:avLst/>
          </a:prstGeom>
          <a:solidFill>
            <a:srgbClr val="4E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390388"/>
            <a:ext cx="438912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4752" y="5431536"/>
            <a:ext cx="90525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50" b="0" i="0">
                <a:solidFill>
                  <a:srgbClr val="121417"/>
                </a:solidFill>
                <a:latin typeface="Avenir Next"/>
              </a:rPr>
              <a:t>how much of the old offer / funnel stack we carry forward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6382512"/>
            <a:ext cx="29260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AA0A8"/>
                </a:solidFill>
                <a:latin typeface="Avenir Next"/>
              </a:rPr>
              <a:t>Positives • Monday strategy discussion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382512"/>
            <a:ext cx="25603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AA0A8"/>
                </a:solidFill>
                <a:latin typeface="Avenir Nex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sitives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84048"/>
            <a:ext cx="1078992" cy="31336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235440" y="-182880"/>
            <a:ext cx="2468880" cy="1828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37160"/>
            <a:ext cx="2926080" cy="21488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69494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800" b="1" i="0">
                <a:solidFill>
                  <a:srgbClr val="121417"/>
                </a:solidFill>
                <a:latin typeface="Avenir Next"/>
              </a:rPr>
              <a:t>Keep the promise simple and truthful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645920"/>
            <a:ext cx="10515600" cy="18288"/>
          </a:xfrm>
          <a:prstGeom prst="rect">
            <a:avLst/>
          </a:prstGeom>
          <a:solidFill>
            <a:srgbClr val="DDD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975104"/>
            <a:ext cx="2798064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9264" y="2093976"/>
            <a:ext cx="2542032" cy="64008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57984"/>
            <a:ext cx="2468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121417"/>
                </a:solidFill>
                <a:latin typeface="Avenir Next"/>
              </a:rPr>
              <a:t>Membership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615184"/>
            <a:ext cx="2331720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• daily audio</a:t>
            </a:r>
          </a:p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• weekly reflection</a:t>
            </a:r>
          </a:p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• monthly theme</a:t>
            </a:r>
          </a:p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• full core library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975104"/>
            <a:ext cx="2798064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51376" y="2093976"/>
            <a:ext cx="2542032" cy="640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2157984"/>
            <a:ext cx="2468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121417"/>
                </a:solidFill>
                <a:latin typeface="Avenir Next"/>
              </a:rPr>
              <a:t>Membership +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615184"/>
            <a:ext cx="2331720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• everything in Membership</a:t>
            </a:r>
          </a:p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• live member events</a:t>
            </a:r>
          </a:p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• replay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5472" y="1975104"/>
            <a:ext cx="2798064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33488" y="2093976"/>
            <a:ext cx="2542032" cy="64008"/>
          </a:xfrm>
          <a:prstGeom prst="roundRect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0064" y="2157984"/>
            <a:ext cx="2468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121417"/>
                </a:solidFill>
                <a:latin typeface="Avenir Next"/>
              </a:rPr>
              <a:t>Coaching Circle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2615184"/>
            <a:ext cx="2331720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• everything in Membership + Events</a:t>
            </a:r>
          </a:p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• weekly live coaching</a:t>
            </a:r>
          </a:p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• coaching replays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5504688"/>
            <a:ext cx="9162288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9264" y="5623559"/>
            <a:ext cx="8906256" cy="64008"/>
          </a:xfrm>
          <a:prstGeom prst="roundRect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5650992"/>
            <a:ext cx="8723376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50" b="1" i="0">
                <a:solidFill>
                  <a:srgbClr val="4E6A59"/>
                </a:solidFill>
                <a:latin typeface="Avenir Next"/>
              </a:rPr>
              <a:t>Do not promise extra certified-coach support unless it is truly staffed.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6382512"/>
            <a:ext cx="29260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AA0A8"/>
                </a:solidFill>
                <a:latin typeface="Avenir Next"/>
              </a:rPr>
              <a:t>Positives • Monday strategy discussion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382512"/>
            <a:ext cx="25603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AA0A8"/>
                </a:solidFill>
                <a:latin typeface="Avenir Nex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sitives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84048"/>
            <a:ext cx="1078992" cy="31336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235440" y="-182880"/>
            <a:ext cx="2468880" cy="1828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37160"/>
            <a:ext cx="2926080" cy="21488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69494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800" b="1" i="0">
                <a:solidFill>
                  <a:srgbClr val="121417"/>
                </a:solidFill>
                <a:latin typeface="Avenir Next"/>
              </a:rPr>
              <a:t>Before we launch, Stripe must be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645920"/>
            <a:ext cx="10515600" cy="18288"/>
          </a:xfrm>
          <a:prstGeom prst="rect">
            <a:avLst/>
          </a:prstGeom>
          <a:solidFill>
            <a:srgbClr val="DDD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975104"/>
            <a:ext cx="484632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121417"/>
                </a:solidFill>
                <a:latin typeface="Avenir Next"/>
              </a:rPr>
              <a:t>This is about live readiness, not just sandbox readiness.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3044951"/>
            <a:ext cx="164592" cy="164592"/>
          </a:xfrm>
          <a:prstGeom prst="ellipse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2999232"/>
            <a:ext cx="42519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0">
                <a:solidFill>
                  <a:srgbClr val="121417"/>
                </a:solidFill>
                <a:latin typeface="Avenir Next"/>
              </a:rPr>
              <a:t>bank account and payouts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575303"/>
            <a:ext cx="164592" cy="164592"/>
          </a:xfrm>
          <a:prstGeom prst="ellipse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25296" y="3529584"/>
            <a:ext cx="42519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0">
                <a:solidFill>
                  <a:srgbClr val="121417"/>
                </a:solidFill>
                <a:latin typeface="Avenir Next"/>
              </a:rPr>
              <a:t>business details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105655"/>
            <a:ext cx="164592" cy="164592"/>
          </a:xfrm>
          <a:prstGeom prst="ellipse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4059935"/>
            <a:ext cx="42519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0">
                <a:solidFill>
                  <a:srgbClr val="121417"/>
                </a:solidFill>
                <a:latin typeface="Avenir Next"/>
              </a:rPr>
              <a:t>verification and tax requirements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636007"/>
            <a:ext cx="164592" cy="164592"/>
          </a:xfrm>
          <a:prstGeom prst="ellipse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5296" y="4590288"/>
            <a:ext cx="42519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0">
                <a:solidFill>
                  <a:srgbClr val="121417"/>
                </a:solidFill>
                <a:latin typeface="Avenir Next"/>
              </a:rPr>
              <a:t>right long-term owner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5166359"/>
            <a:ext cx="164592" cy="164592"/>
          </a:xfrm>
          <a:prstGeom prst="ellipse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6" y="5120640"/>
            <a:ext cx="42519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0">
                <a:solidFill>
                  <a:srgbClr val="121417"/>
                </a:solidFill>
                <a:latin typeface="Avenir Next"/>
              </a:rPr>
              <a:t>operational confidence before live money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011680"/>
            <a:ext cx="4736592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28816" y="2130552"/>
            <a:ext cx="4480559" cy="640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2194560"/>
            <a:ext cx="4407407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121417"/>
                </a:solidFill>
                <a:latin typeface="Avenir Next"/>
              </a:rPr>
              <a:t>Decision lens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2651760"/>
            <a:ext cx="41148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If anything material is still unresolved, we should treat that as a launch gating task.</a:t>
            </a:r>
          </a:p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The question is whether Positives is ready to accept live money with confidence and clarity.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6382512"/>
            <a:ext cx="29260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AA0A8"/>
                </a:solidFill>
                <a:latin typeface="Avenir Next"/>
              </a:rPr>
              <a:t>Positives • Monday strategy discussion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382512"/>
            <a:ext cx="25603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AA0A8"/>
                </a:solidFill>
                <a:latin typeface="Avenir Nex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sitives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84048"/>
            <a:ext cx="1078992" cy="31336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235440" y="-182880"/>
            <a:ext cx="2468880" cy="1828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37160"/>
            <a:ext cx="2926080" cy="21488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69494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800" b="1" i="0">
                <a:solidFill>
                  <a:srgbClr val="121417"/>
                </a:solidFill>
                <a:latin typeface="Avenir Next"/>
              </a:rPr>
              <a:t>Move existing members calmly, not all at once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645920"/>
            <a:ext cx="10515600" cy="18288"/>
          </a:xfrm>
          <a:prstGeom prst="rect">
            <a:avLst/>
          </a:prstGeom>
          <a:solidFill>
            <a:srgbClr val="DDD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432" y="3749039"/>
            <a:ext cx="9052560" cy="27432"/>
          </a:xfrm>
          <a:prstGeom prst="rect">
            <a:avLst/>
          </a:prstGeom>
          <a:solidFill>
            <a:srgbClr val="DDD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2468880"/>
            <a:ext cx="1664208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" y="2587752"/>
            <a:ext cx="1408176" cy="64008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0976" y="2578608"/>
            <a:ext cx="256032" cy="256032"/>
          </a:xfrm>
          <a:prstGeom prst="ellipse">
            <a:avLst/>
          </a:prstGeom>
          <a:solidFill>
            <a:srgbClr val="4E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606040"/>
            <a:ext cx="256032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venir Nex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907792"/>
            <a:ext cx="1353312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20" b="0" i="0">
                <a:solidFill>
                  <a:srgbClr val="121417"/>
                </a:solidFill>
                <a:latin typeface="Avenir Next"/>
              </a:rPr>
              <a:t>announcement phase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8648" y="2999232"/>
            <a:ext cx="1664208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26664" y="3118103"/>
            <a:ext cx="1408176" cy="64008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08376" y="3108960"/>
            <a:ext cx="256032" cy="256032"/>
          </a:xfrm>
          <a:prstGeom prst="ellipse">
            <a:avLst/>
          </a:prstGeom>
          <a:solidFill>
            <a:srgbClr val="4E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8376" y="3136391"/>
            <a:ext cx="256032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venir Nex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6664" y="3438144"/>
            <a:ext cx="1353312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20" b="0" i="0">
                <a:solidFill>
                  <a:srgbClr val="121417"/>
                </a:solidFill>
                <a:latin typeface="Avenir Next"/>
              </a:rPr>
              <a:t>new members to Stripe now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56048" y="2468880"/>
            <a:ext cx="1664208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84064" y="2587752"/>
            <a:ext cx="1408176" cy="640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65776" y="2578608"/>
            <a:ext cx="256032" cy="256032"/>
          </a:xfrm>
          <a:prstGeom prst="ellipse">
            <a:avLst/>
          </a:prstGeom>
          <a:solidFill>
            <a:srgbClr val="4E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5776" y="2606040"/>
            <a:ext cx="256032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venir Nex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2907792"/>
            <a:ext cx="1353312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20" b="0" i="0">
                <a:solidFill>
                  <a:srgbClr val="121417"/>
                </a:solidFill>
                <a:latin typeface="Avenir Next"/>
              </a:rPr>
              <a:t>try payment-data migration first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13448" y="2999232"/>
            <a:ext cx="1664208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41464" y="3118103"/>
            <a:ext cx="1408176" cy="640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23176" y="3108960"/>
            <a:ext cx="256032" cy="256032"/>
          </a:xfrm>
          <a:prstGeom prst="ellipse">
            <a:avLst/>
          </a:prstGeom>
          <a:solidFill>
            <a:srgbClr val="4E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23176" y="3136391"/>
            <a:ext cx="256032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venir Next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1464" y="3438144"/>
            <a:ext cx="1353312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20" b="0" i="0">
                <a:solidFill>
                  <a:srgbClr val="121417"/>
                </a:solidFill>
                <a:latin typeface="Avenir Next"/>
              </a:rPr>
              <a:t>guided payment-update flows if needed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8" y="2468880"/>
            <a:ext cx="1664208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98864" y="2587752"/>
            <a:ext cx="1408176" cy="640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80576" y="2578608"/>
            <a:ext cx="256032" cy="256032"/>
          </a:xfrm>
          <a:prstGeom prst="ellipse">
            <a:avLst/>
          </a:prstGeom>
          <a:solidFill>
            <a:srgbClr val="4E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2606040"/>
            <a:ext cx="256032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venir Next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8864" y="2907792"/>
            <a:ext cx="1353312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20" b="0" i="0">
                <a:solidFill>
                  <a:srgbClr val="121417"/>
                </a:solidFill>
                <a:latin typeface="Avenir Next"/>
              </a:rPr>
              <a:t>do not shut down the old system too early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6382512"/>
            <a:ext cx="29260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AA0A8"/>
                </a:solidFill>
                <a:latin typeface="Avenir Next"/>
              </a:rPr>
              <a:t>Positives • Monday strategy discussion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382512"/>
            <a:ext cx="25603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AA0A8"/>
                </a:solidFill>
                <a:latin typeface="Avenir Nex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sitives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84048"/>
            <a:ext cx="1078992" cy="31336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235440" y="-182880"/>
            <a:ext cx="2468880" cy="1828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37160"/>
            <a:ext cx="2926080" cy="21488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69494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800" b="1" i="0">
                <a:solidFill>
                  <a:srgbClr val="121417"/>
                </a:solidFill>
                <a:latin typeface="Avenir Next"/>
              </a:rPr>
              <a:t>Simplify pricing over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645920"/>
            <a:ext cx="10515600" cy="18288"/>
          </a:xfrm>
          <a:prstGeom prst="rect">
            <a:avLst/>
          </a:prstGeom>
          <a:solidFill>
            <a:srgbClr val="DDD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029968"/>
            <a:ext cx="57607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200" b="1" i="0">
                <a:solidFill>
                  <a:srgbClr val="121417"/>
                </a:solidFill>
                <a:latin typeface="Avenir Next"/>
              </a:rPr>
              <a:t>Current legacy cohorts include prices like 67, 47, and 07.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3822191"/>
            <a:ext cx="1828800" cy="10424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73168" y="3822191"/>
            <a:ext cx="1828800" cy="10424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67344" y="3822191"/>
            <a:ext cx="1828800" cy="10424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5024" y="4160520"/>
            <a:ext cx="12801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100" b="1" i="0">
                <a:solidFill>
                  <a:srgbClr val="121417"/>
                </a:solidFill>
                <a:latin typeface="Avenir Next"/>
              </a:rPr>
              <a:t>67 • 47 • 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2352" y="4160520"/>
            <a:ext cx="11887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900" b="1" i="0">
                <a:solidFill>
                  <a:srgbClr val="4E6A59"/>
                </a:solidFill>
                <a:latin typeface="Avenir Next"/>
              </a:rPr>
              <a:t>transition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4160520"/>
            <a:ext cx="65836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600" b="1" i="0">
                <a:solidFill>
                  <a:srgbClr val="2F6FED"/>
                </a:solidFill>
                <a:latin typeface="Avenir Next"/>
              </a:rPr>
              <a:t>37</a:t>
            </a:r>
          </a:p>
        </p:txBody>
      </p:sp>
      <p:sp>
        <p:nvSpPr>
          <p:cNvPr id="14" name="Chevron 13"/>
          <p:cNvSpPr/>
          <p:nvPr/>
        </p:nvSpPr>
        <p:spPr>
          <a:xfrm>
            <a:off x="3273552" y="4133087"/>
            <a:ext cx="768096" cy="292608"/>
          </a:xfrm>
          <a:prstGeom prst="chevron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6967728" y="4133087"/>
            <a:ext cx="768096" cy="292608"/>
          </a:xfrm>
          <a:prstGeom prst="chevron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5449824"/>
            <a:ext cx="99669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5568696"/>
            <a:ext cx="9710928" cy="64008"/>
          </a:xfrm>
          <a:prstGeom prst="roundRect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5596128"/>
            <a:ext cx="9509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50" b="1" i="0">
                <a:solidFill>
                  <a:srgbClr val="4E6A59"/>
                </a:solidFill>
                <a:latin typeface="Avenir Next"/>
              </a:rPr>
              <a:t>Recommendation: move legacy cohorts toward the current 37 plan, with exceptions only when intentionally approved.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6382512"/>
            <a:ext cx="29260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AA0A8"/>
                </a:solidFill>
                <a:latin typeface="Avenir Next"/>
              </a:rPr>
              <a:t>Positives • Monday strategy discussion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382512"/>
            <a:ext cx="25603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AA0A8"/>
                </a:solidFill>
                <a:latin typeface="Avenir Nex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sitives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84048"/>
            <a:ext cx="1078992" cy="31336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235440" y="-182880"/>
            <a:ext cx="2468880" cy="1828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37160"/>
            <a:ext cx="2926080" cy="21488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69494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800" b="1" i="0">
                <a:solidFill>
                  <a:srgbClr val="121417"/>
                </a:solidFill>
                <a:latin typeface="Avenir Next"/>
              </a:rPr>
              <a:t>Phased rebilling protects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645920"/>
            <a:ext cx="10515600" cy="18288"/>
          </a:xfrm>
          <a:prstGeom prst="rect">
            <a:avLst/>
          </a:prstGeom>
          <a:solidFill>
            <a:srgbClr val="DDD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5212080"/>
            <a:ext cx="1645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2416" y="5330952"/>
            <a:ext cx="1389888" cy="64008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5376672"/>
            <a:ext cx="27432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Avenir Nex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5596128"/>
            <a:ext cx="1298448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 i="0">
                <a:solidFill>
                  <a:srgbClr val="121417"/>
                </a:solidFill>
                <a:latin typeface="Avenir Next"/>
              </a:rPr>
              <a:t>new members already on Stripe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4828032"/>
            <a:ext cx="1645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54096" y="4946904"/>
            <a:ext cx="1389888" cy="64008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4992624"/>
            <a:ext cx="27432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Avenir Nex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5212080"/>
            <a:ext cx="129844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 i="0">
                <a:solidFill>
                  <a:srgbClr val="121417"/>
                </a:solidFill>
                <a:latin typeface="Avenir Next"/>
              </a:rPr>
              <a:t>simple monthly members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4443984"/>
            <a:ext cx="16459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5776" y="4562856"/>
            <a:ext cx="1389888" cy="640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4064" y="4608576"/>
            <a:ext cx="27432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F6FED"/>
                </a:solidFill>
                <a:latin typeface="Avenir Nex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4828032"/>
            <a:ext cx="1298448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 i="0">
                <a:solidFill>
                  <a:srgbClr val="121417"/>
                </a:solidFill>
                <a:latin typeface="Avenir Next"/>
              </a:rPr>
              <a:t>legacy monthly cohorts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4059936"/>
            <a:ext cx="1645920" cy="1865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77456" y="4178808"/>
            <a:ext cx="1389888" cy="640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95744" y="4224528"/>
            <a:ext cx="27432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F6FED"/>
                </a:solidFill>
                <a:latin typeface="Avenir Nex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5744" y="4443984"/>
            <a:ext cx="1298448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 i="0">
                <a:solidFill>
                  <a:srgbClr val="121417"/>
                </a:solidFill>
                <a:latin typeface="Avenir Next"/>
              </a:rPr>
              <a:t>annual members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3675888"/>
            <a:ext cx="1645920" cy="2249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89136" y="3794760"/>
            <a:ext cx="1389888" cy="64008"/>
          </a:xfrm>
          <a:prstGeom prst="roundRect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07424" y="3840480"/>
            <a:ext cx="27432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6F8A7A"/>
                </a:solidFill>
                <a:latin typeface="Avenir Next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7424" y="4059936"/>
            <a:ext cx="1298448" cy="17739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 i="0">
                <a:solidFill>
                  <a:srgbClr val="121417"/>
                </a:solidFill>
                <a:latin typeface="Avenir Next"/>
              </a:rPr>
              <a:t>special cases and edge cases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1993392"/>
            <a:ext cx="10405872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9264" y="2112264"/>
            <a:ext cx="10149840" cy="64008"/>
          </a:xfrm>
          <a:prstGeom prst="roundRect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2139696"/>
            <a:ext cx="99669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80" b="1" i="0">
                <a:solidFill>
                  <a:srgbClr val="4E6A59"/>
                </a:solidFill>
                <a:latin typeface="Avenir Next"/>
              </a:rPr>
              <a:t>Do not move the next wave until the last one is stable.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6382512"/>
            <a:ext cx="29260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AA0A8"/>
                </a:solidFill>
                <a:latin typeface="Avenir Next"/>
              </a:rPr>
              <a:t>Positives • Monday strategy discussion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382512"/>
            <a:ext cx="25603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AA0A8"/>
                </a:solidFill>
                <a:latin typeface="Avenir Nex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sitives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84048"/>
            <a:ext cx="1078992" cy="31336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235440" y="-182880"/>
            <a:ext cx="2468880" cy="1828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37160"/>
            <a:ext cx="2926080" cy="21488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69494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800" b="1" i="0">
                <a:solidFill>
                  <a:srgbClr val="121417"/>
                </a:solidFill>
                <a:latin typeface="Avenir Next"/>
              </a:rPr>
              <a:t>A cleaner email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645920"/>
            <a:ext cx="10515600" cy="18288"/>
          </a:xfrm>
          <a:prstGeom prst="rect">
            <a:avLst/>
          </a:prstGeom>
          <a:solidFill>
            <a:srgbClr val="DDD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8992" y="2487168"/>
            <a:ext cx="2240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07007" y="2606040"/>
            <a:ext cx="1984248" cy="64008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2816352"/>
            <a:ext cx="1911096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 i="0">
                <a:solidFill>
                  <a:srgbClr val="121417"/>
                </a:solidFill>
                <a:latin typeface="Avenir Next"/>
              </a:rPr>
              <a:t>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3145536"/>
            <a:ext cx="191109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0">
                <a:solidFill>
                  <a:srgbClr val="68707A"/>
                </a:solidFill>
                <a:latin typeface="Avenir Next"/>
              </a:rPr>
              <a:t>triggers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41648" y="2487168"/>
            <a:ext cx="28803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69663" y="2606040"/>
            <a:ext cx="2624328" cy="640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816352"/>
            <a:ext cx="2551176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 i="0">
                <a:solidFill>
                  <a:srgbClr val="121417"/>
                </a:solidFill>
                <a:latin typeface="Avenir Next"/>
              </a:rPr>
              <a:t>ActiveCampaign 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145536"/>
            <a:ext cx="255117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0">
                <a:solidFill>
                  <a:srgbClr val="68707A"/>
                </a:solidFill>
                <a:latin typeface="Avenir Next"/>
              </a:rPr>
              <a:t>automation brain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62672" y="2487168"/>
            <a:ext cx="2240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90688" y="2606040"/>
            <a:ext cx="1984248" cy="64008"/>
          </a:xfrm>
          <a:prstGeom prst="roundRect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27264" y="2816352"/>
            <a:ext cx="1911096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 i="0">
                <a:solidFill>
                  <a:srgbClr val="121417"/>
                </a:solidFill>
                <a:latin typeface="Avenir Next"/>
              </a:rPr>
              <a:t>Postmark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4" y="3145536"/>
            <a:ext cx="191109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0">
                <a:solidFill>
                  <a:srgbClr val="68707A"/>
                </a:solidFill>
                <a:latin typeface="Avenir Next"/>
              </a:rPr>
              <a:t>transactional delivery</a:t>
            </a:r>
          </a:p>
        </p:txBody>
      </p:sp>
      <p:sp>
        <p:nvSpPr>
          <p:cNvPr id="19" name="Chevron 18"/>
          <p:cNvSpPr/>
          <p:nvPr/>
        </p:nvSpPr>
        <p:spPr>
          <a:xfrm>
            <a:off x="3401568" y="2880360"/>
            <a:ext cx="384048" cy="256032"/>
          </a:xfrm>
          <a:prstGeom prst="chevron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7095744" y="2880360"/>
            <a:ext cx="384048" cy="256032"/>
          </a:xfrm>
          <a:prstGeom prst="chevron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617720"/>
            <a:ext cx="9509760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• ActiveCampaign becomes the automation brain</a:t>
            </a:r>
          </a:p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• Postmark becomes the transactional delivery layer</a:t>
            </a:r>
          </a:p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• essential account emails still send</a:t>
            </a:r>
          </a:p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• marketing emails stay unsubscribable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6382512"/>
            <a:ext cx="29260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AA0A8"/>
                </a:solidFill>
                <a:latin typeface="Avenir Next"/>
              </a:rPr>
              <a:t>Positives • Monday strategy discussion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382512"/>
            <a:ext cx="25603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AA0A8"/>
                </a:solidFill>
                <a:latin typeface="Avenir Nex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sitives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84048"/>
            <a:ext cx="1078992" cy="31336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235440" y="-182880"/>
            <a:ext cx="2468880" cy="1828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37160"/>
            <a:ext cx="2926080" cy="21488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69494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800" b="1" i="0">
                <a:solidFill>
                  <a:srgbClr val="121417"/>
                </a:solidFill>
                <a:latin typeface="Avenir Next"/>
              </a:rPr>
              <a:t>We do not need to move everything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645920"/>
            <a:ext cx="10515600" cy="18288"/>
          </a:xfrm>
          <a:prstGeom prst="rect">
            <a:avLst/>
          </a:prstGeom>
          <a:solidFill>
            <a:srgbClr val="DDD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011680"/>
            <a:ext cx="2743200" cy="38221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9264" y="2130552"/>
            <a:ext cx="2487168" cy="64008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2414016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121417"/>
                </a:solidFill>
                <a:latin typeface="Avenir Next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88336"/>
            <a:ext cx="2414016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• membership-critical experience</a:t>
            </a:r>
          </a:p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• highest-value supporting offers</a:t>
            </a:r>
          </a:p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• priority funnels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78224" y="2011680"/>
            <a:ext cx="2743200" cy="38221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2130552"/>
            <a:ext cx="2487168" cy="640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2194560"/>
            <a:ext cx="2414016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121417"/>
                </a:solidFill>
                <a:latin typeface="Avenir Next"/>
              </a:rPr>
              <a:t>Later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2688336"/>
            <a:ext cx="2414016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• long-tail courses</a:t>
            </a:r>
          </a:p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• old campaigns</a:t>
            </a:r>
          </a:p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• lower-value legacy funnel sprawl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011680"/>
            <a:ext cx="3950208" cy="38221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2130552"/>
            <a:ext cx="3694176" cy="64008"/>
          </a:xfrm>
          <a:prstGeom prst="roundRect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2194560"/>
            <a:ext cx="3621024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121417"/>
                </a:solidFill>
                <a:latin typeface="Avenir Next"/>
              </a:rPr>
              <a:t>Maybe never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2688336"/>
            <a:ext cx="3621024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21417"/>
                </a:solidFill>
                <a:latin typeface="Avenir Next"/>
              </a:defRPr>
            </a:pPr>
            <a:r>
              <a:t>• anything that no longer fits the future Positives direction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6382512"/>
            <a:ext cx="29260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AA0A8"/>
                </a:solidFill>
                <a:latin typeface="Avenir Next"/>
              </a:rPr>
              <a:t>Positives • Monday strategy discussion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382512"/>
            <a:ext cx="25603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AA0A8"/>
                </a:solidFill>
                <a:latin typeface="Avenir Nex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sitives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84048"/>
            <a:ext cx="1078992" cy="31336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235440" y="-182880"/>
            <a:ext cx="2468880" cy="1828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37160"/>
            <a:ext cx="2926080" cy="21488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69494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800" b="1" i="0">
                <a:solidFill>
                  <a:srgbClr val="121417"/>
                </a:solidFill>
                <a:latin typeface="Avenir Next"/>
              </a:rPr>
              <a:t>The overlap is temporary. The simplification is the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645920"/>
            <a:ext cx="10515600" cy="18288"/>
          </a:xfrm>
          <a:prstGeom prst="rect">
            <a:avLst/>
          </a:prstGeom>
          <a:solidFill>
            <a:srgbClr val="DDD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938528"/>
            <a:ext cx="3182112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9264" y="2057400"/>
            <a:ext cx="2926080" cy="64008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21408"/>
            <a:ext cx="28529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121417"/>
                </a:solidFill>
                <a:latin typeface="Avenir Next"/>
              </a:rPr>
              <a:t>Target Positives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938528"/>
            <a:ext cx="3182112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08576" y="2057400"/>
            <a:ext cx="2926080" cy="64008"/>
          </a:xfrm>
          <a:prstGeom prst="roundRect">
            <a:avLst/>
          </a:prstGeom>
          <a:solidFill>
            <a:srgbClr val="EFE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121408"/>
            <a:ext cx="28529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121417"/>
                </a:solidFill>
                <a:latin typeface="Avenir Next"/>
              </a:rPr>
              <a:t>Legacy stack to retire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938528"/>
            <a:ext cx="314553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7888" y="2057400"/>
            <a:ext cx="2889504" cy="640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2121408"/>
            <a:ext cx="281635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121417"/>
                </a:solidFill>
                <a:latin typeface="Avenir Next"/>
              </a:rPr>
              <a:t>Overlap period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578608"/>
            <a:ext cx="2651760" cy="2249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121417"/>
                </a:solidFill>
                <a:latin typeface="Avenir Next"/>
              </a:defRPr>
            </a:pPr>
            <a:r>
              <a:t>• ActiveCampaign Pro</a:t>
            </a:r>
          </a:p>
          <a:p>
            <a:pPr>
              <a:spcAft>
                <a:spcPts val="400"/>
              </a:spcAft>
              <a:defRPr sz="1350">
                <a:solidFill>
                  <a:srgbClr val="121417"/>
                </a:solidFill>
                <a:latin typeface="Avenir Next"/>
              </a:defRPr>
            </a:pPr>
            <a:r>
              <a:t>• Postmark</a:t>
            </a:r>
          </a:p>
          <a:p>
            <a:pPr>
              <a:spcAft>
                <a:spcPts val="400"/>
              </a:spcAft>
              <a:defRPr sz="1350">
                <a:solidFill>
                  <a:srgbClr val="121417"/>
                </a:solidFill>
                <a:latin typeface="Avenir Next"/>
              </a:defRPr>
            </a:pPr>
            <a:r>
              <a:t>• Vercel</a:t>
            </a:r>
          </a:p>
          <a:p>
            <a:pPr>
              <a:spcAft>
                <a:spcPts val="400"/>
              </a:spcAft>
              <a:defRPr sz="1350">
                <a:solidFill>
                  <a:srgbClr val="121417"/>
                </a:solidFill>
                <a:latin typeface="Avenir Next"/>
              </a:defRPr>
            </a:pPr>
            <a:r>
              <a:t>• Supabase</a:t>
            </a:r>
          </a:p>
          <a:p>
            <a:pPr>
              <a:spcAft>
                <a:spcPts val="400"/>
              </a:spcAft>
              <a:defRPr sz="1350">
                <a:solidFill>
                  <a:srgbClr val="121417"/>
                </a:solidFill>
                <a:latin typeface="Avenir Next"/>
              </a:defRPr>
            </a:pPr>
            <a:r>
              <a:t>• Stripe</a:t>
            </a:r>
          </a:p>
          <a:p>
            <a:pPr>
              <a:spcAft>
                <a:spcPts val="400"/>
              </a:spcAft>
              <a:defRPr sz="1350">
                <a:solidFill>
                  <a:srgbClr val="121417"/>
                </a:solidFill>
                <a:latin typeface="Avenir Next"/>
              </a:defRPr>
            </a:pPr>
            <a:r>
              <a:t>• Vimeo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4" y="2578608"/>
            <a:ext cx="2651760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121417"/>
                </a:solidFill>
                <a:latin typeface="Avenir Next"/>
              </a:defRPr>
            </a:pPr>
            <a:r>
              <a:t>• Keap</a:t>
            </a:r>
          </a:p>
          <a:p>
            <a:pPr>
              <a:spcAft>
                <a:spcPts val="400"/>
              </a:spcAft>
              <a:defRPr sz="1350">
                <a:solidFill>
                  <a:srgbClr val="121417"/>
                </a:solidFill>
                <a:latin typeface="Avenir Next"/>
              </a:defRPr>
            </a:pPr>
            <a:r>
              <a:t>• ClickFunnels</a:t>
            </a:r>
          </a:p>
          <a:p>
            <a:pPr>
              <a:spcAft>
                <a:spcPts val="400"/>
              </a:spcAft>
              <a:defRPr sz="1350">
                <a:solidFill>
                  <a:srgbClr val="121417"/>
                </a:solidFill>
                <a:latin typeface="Avenir Next"/>
              </a:defRPr>
            </a:pPr>
            <a:r>
              <a:t>• Liquid Web</a:t>
            </a:r>
          </a:p>
          <a:p>
            <a:pPr>
              <a:spcAft>
                <a:spcPts val="400"/>
              </a:spcAft>
              <a:defRPr sz="1350">
                <a:solidFill>
                  <a:srgbClr val="121417"/>
                </a:solidFill>
                <a:latin typeface="Avenir Next"/>
              </a:defRPr>
            </a:pPr>
            <a:r>
              <a:t>• legacy plugin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578608"/>
            <a:ext cx="2487168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121417"/>
                </a:solidFill>
                <a:latin typeface="Avenir Next"/>
              </a:defRPr>
            </a:pPr>
            <a:r>
              <a:t>• costs more for a while</a:t>
            </a:r>
          </a:p>
          <a:p>
            <a:pPr>
              <a:spcAft>
                <a:spcPts val="400"/>
              </a:spcAft>
              <a:defRPr sz="1350">
                <a:solidFill>
                  <a:srgbClr val="121417"/>
                </a:solidFill>
                <a:latin typeface="Avenir Next"/>
              </a:defRPr>
            </a:pPr>
            <a:r>
              <a:t>• temporary dual-system period</a:t>
            </a:r>
          </a:p>
          <a:p>
            <a:pPr>
              <a:spcAft>
                <a:spcPts val="400"/>
              </a:spcAft>
              <a:defRPr sz="1350">
                <a:solidFill>
                  <a:srgbClr val="121417"/>
                </a:solidFill>
                <a:latin typeface="Avenir Next"/>
              </a:defRPr>
            </a:pPr>
            <a:r>
              <a:t>• cleaner operating model afterward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5614416"/>
            <a:ext cx="1042416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5760720"/>
            <a:ext cx="99669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50" b="1" i="0">
                <a:solidFill>
                  <a:srgbClr val="4E6A59"/>
                </a:solidFill>
                <a:latin typeface="Avenir Next"/>
              </a:rPr>
              <a:t>Long-term goal: a cleaner, lower-friction system with less legacy dependence.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6382512"/>
            <a:ext cx="29260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9AA0A8"/>
                </a:solidFill>
                <a:latin typeface="Avenir Next"/>
              </a:rPr>
              <a:t>Positives • Monday strategy discussion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382512"/>
            <a:ext cx="25603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AA0A8"/>
                </a:solidFill>
                <a:latin typeface="Avenir Nex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137160"/>
            <a:ext cx="2377440" cy="182880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512064"/>
            <a:ext cx="1737360" cy="146304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sitives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11480"/>
            <a:ext cx="1078992" cy="3133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932688"/>
            <a:ext cx="640080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 i="0">
                <a:solidFill>
                  <a:srgbClr val="121417"/>
                </a:solidFill>
                <a:latin typeface="Avenir Next"/>
              </a:rPr>
              <a:t>The outcome we want today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020824"/>
            <a:ext cx="182880" cy="182880"/>
          </a:xfrm>
          <a:prstGeom prst="ellipse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43584" y="1993392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0">
                <a:solidFill>
                  <a:srgbClr val="121417"/>
                </a:solidFill>
                <a:latin typeface="Avenir Next"/>
              </a:rPr>
              <a:t>approved membership promise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624328"/>
            <a:ext cx="182880" cy="182880"/>
          </a:xfrm>
          <a:prstGeom prst="ellipse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2596896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0">
                <a:solidFill>
                  <a:srgbClr val="121417"/>
                </a:solidFill>
                <a:latin typeface="Avenir Next"/>
              </a:rPr>
              <a:t>clear Stripe readiness path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227832"/>
            <a:ext cx="182880" cy="182880"/>
          </a:xfrm>
          <a:prstGeom prst="ellipse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3584" y="3200400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0">
                <a:solidFill>
                  <a:srgbClr val="121417"/>
                </a:solidFill>
                <a:latin typeface="Avenir Next"/>
              </a:rPr>
              <a:t>phased rebilling approved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31336"/>
            <a:ext cx="182880" cy="182880"/>
          </a:xfrm>
          <a:prstGeom prst="ellipse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3803904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0">
                <a:solidFill>
                  <a:srgbClr val="121417"/>
                </a:solidFill>
                <a:latin typeface="Avenir Next"/>
              </a:rPr>
              <a:t>ActiveCampaign Pro + Postmark approved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434840"/>
            <a:ext cx="182880" cy="182880"/>
          </a:xfrm>
          <a:prstGeom prst="ellipse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3584" y="440740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0">
                <a:solidFill>
                  <a:srgbClr val="121417"/>
                </a:solidFill>
                <a:latin typeface="Avenir Next"/>
              </a:rPr>
              <a:t>membership-first migration scope approved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038344"/>
            <a:ext cx="182880" cy="182880"/>
          </a:xfrm>
          <a:prstGeom prst="ellipse">
            <a:avLst/>
          </a:prstGeom>
          <a:solidFill>
            <a:srgbClr val="6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3584" y="5010912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0">
                <a:solidFill>
                  <a:srgbClr val="121417"/>
                </a:solidFill>
                <a:latin typeface="Avenir Next"/>
              </a:rPr>
              <a:t>owners for follow-up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0528" y="1975104"/>
            <a:ext cx="4572000" cy="3529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38544" y="2093976"/>
            <a:ext cx="4315968" cy="64008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157984"/>
            <a:ext cx="4242816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121417"/>
                </a:solidFill>
                <a:latin typeface="Avenir Next"/>
              </a:rPr>
              <a:t>Meeting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2651760"/>
            <a:ext cx="4041648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121417"/>
                </a:solidFill>
                <a:latin typeface="Avenir Next"/>
              </a:rPr>
              <a:t>Leave with real decisions, a clear transition path, and named next owners.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4709160"/>
            <a:ext cx="3840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68707A"/>
                </a:solidFill>
                <a:latin typeface="Avenir Next"/>
              </a:rPr>
              <a:t>Support the conversation. Do not try to narrate every detail.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8208" y="6327648"/>
            <a:ext cx="25603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50" b="0" i="0">
                <a:solidFill>
                  <a:srgbClr val="9AA0A8"/>
                </a:solidFill>
                <a:latin typeface="Avenir Next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